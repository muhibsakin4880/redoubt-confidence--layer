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B7FF"/>
          </a:solidFill>
          <a:ln w="12700">
            <a:solidFill>
              <a:srgbClr val="17B7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601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3D3EE"/>
                </a:solidFill>
              </a:rPr>
              <a:t>REDOUBT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58368" y="17373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Trust-First Data Access Infrastructure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58368" y="210312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CD8"/>
                </a:solidFill>
              </a:rPr>
              <a:t>Built for regulated industries that need verified, governed, and auditable data exchange.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81635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E7EEF9"/>
                </a:solidFill>
              </a:rPr>
              <a:t>Invite-only provider onboarding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322783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E7EEF9"/>
                </a:solidFill>
              </a:rPr>
              <a:t>AI-powered dataset confidence scoring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63931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E7EEF9"/>
                </a:solidFill>
              </a:rPr>
              <a:t>Compliance-first workflows with immutable auditability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405079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E7EEF9"/>
                </a:solidFill>
              </a:rPr>
              <a:t>Identity-safe collaboration between buyers and providers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892040"/>
            <a:ext cx="1417320" cy="384048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17B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5001768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D3EE"/>
                </a:solidFill>
              </a:rPr>
              <a:t>Healthcare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0" y="4892040"/>
            <a:ext cx="1417320" cy="384048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17B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5001768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D3EE"/>
                </a:solidFill>
              </a:rPr>
              <a:t>Finance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86200" y="4892040"/>
            <a:ext cx="1417320" cy="384048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17B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6200" y="5001768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D3EE"/>
                </a:solidFill>
              </a:rPr>
              <a:t>Government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822960"/>
            <a:ext cx="5257800" cy="5440680"/>
          </a:xfrm>
          <a:prstGeom prst="roundRect">
            <a:avLst/>
          </a:prstGeom>
          <a:solidFill>
            <a:srgbClr val="07162E"/>
          </a:solidFill>
          <a:ln w="12700">
            <a:solidFill>
              <a:srgbClr val="1E335D"/>
            </a:solidFill>
            <a:prstDash val="solid"/>
          </a:ln>
        </p:spPr>
      </p:sp>
      <p:pic>
        <p:nvPicPr>
          <p:cNvPr id="17" name="Image 0" descr="D:\Redoubt\output\pitch-deck-redoubt\assets\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961960"/>
            <a:ext cx="5074920" cy="317182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85800" y="5897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Project stage: Prototype / investor demo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784080" y="5897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CD8"/>
                </a:solidFill>
              </a:rPr>
              <a:t>Prepared from repository artifacts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65836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Redoubt Confidential | Repo-based prototype deck | March 2026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1/12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B7FF"/>
          </a:solidFill>
          <a:ln w="12700">
            <a:solidFill>
              <a:srgbClr val="17B7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Problem: Data Trust Breaks in Regulated Markets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data marketplaces optimize for volume, not verifiable confidence.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7EEF9"/>
                </a:solidFill>
              </a:rPr>
              <a:t>Regulated teams need high-quality data, but today they face fragmented verification, weak accountability, and high compliance risk.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E7EEF9"/>
                </a:solidFill>
              </a:rPr>
              <a:t>Buyers spend cycles vetting dataset credibility manually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E7EEF9"/>
                </a:solidFill>
              </a:rPr>
              <a:t>Providers lack a structured mechanism to prove trustworthiness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97180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E7EEF9"/>
                </a:solidFill>
              </a:rPr>
              <a:t>Compliance checks are often bolted on after data exchange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E7EEF9"/>
                </a:solidFill>
              </a:rPr>
              <a:t>Open listings increase exposure for sensitive providers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1463040"/>
            <a:ext cx="2331720" cy="169164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48272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D3EE"/>
                </a:solidFill>
              </a:rPr>
              <a:t>Slow Procurement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48272" y="2029968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CD8"/>
                </a:solidFill>
              </a:rPr>
              <a:t>Security and legal teams block or delay approvals.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98280" y="1463040"/>
            <a:ext cx="2331720" cy="169164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62872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D3EE"/>
                </a:solidFill>
              </a:rPr>
              <a:t>Opaque Quality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262872" y="2029968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CD8"/>
                </a:solidFill>
              </a:rPr>
              <a:t>No persistent confidence signal across datasets.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0" y="3429000"/>
            <a:ext cx="2331720" cy="169164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8272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D3EE"/>
                </a:solidFill>
              </a:rPr>
              <a:t>Audit Gaps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48272" y="3995928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CD8"/>
                </a:solidFill>
              </a:rPr>
              <a:t>Inconsistent event logging complicates compliance reviews.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98280" y="3429000"/>
            <a:ext cx="2331720" cy="169164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62872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D3EE"/>
                </a:solidFill>
              </a:rPr>
              <a:t>Identity Risk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62872" y="3995928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CD8"/>
                </a:solidFill>
              </a:rPr>
              <a:t>Contributors may avoid participation without privacy controls.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5120640"/>
            <a:ext cx="10972800" cy="1097280"/>
          </a:xfrm>
          <a:prstGeom prst="roundRect">
            <a:avLst/>
          </a:prstGeom>
          <a:solidFill>
            <a:srgbClr val="0A1A35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394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E7EEF9"/>
                </a:solidFill>
              </a:rPr>
              <a:t>Repo statement: Regulated buyers need guarantees on trustworthiness, compliance, and provider accountability - and current marketplaces do not provide them.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836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Redoubt Confidential | Repo-based prototype deck | March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2/12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B7FF"/>
          </a:solidFill>
          <a:ln w="12700">
            <a:solidFill>
              <a:srgbClr val="17B7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Solution: A Trust-First Access Layer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Redoubt inserts governance, scoring, and control between contributor and consumer.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00200"/>
            <a:ext cx="2514600" cy="86868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7B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1. Invite-only Onboarding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901952"/>
            <a:ext cx="182880" cy="256032"/>
          </a:xfrm>
          <a:prstGeom prst="chevron">
            <a:avLst/>
          </a:prstGeom>
          <a:solidFill>
            <a:srgbClr val="23D3EE"/>
          </a:solidFill>
          <a:ln w="12700">
            <a:solidFill>
              <a:srgbClr val="23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600200"/>
            <a:ext cx="2514600" cy="868680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17B7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18745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2. AI Quality Validation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1901952"/>
            <a:ext cx="182880" cy="256032"/>
          </a:xfrm>
          <a:prstGeom prst="chevron">
            <a:avLst/>
          </a:prstGeom>
          <a:solidFill>
            <a:srgbClr val="23D3EE"/>
          </a:solidFill>
          <a:ln w="12700">
            <a:solidFill>
              <a:srgbClr val="23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600200"/>
            <a:ext cx="2514600" cy="86868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7B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8745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3. Trust Score Assignment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15400" y="1901952"/>
            <a:ext cx="182880" cy="256032"/>
          </a:xfrm>
          <a:prstGeom prst="chevron">
            <a:avLst/>
          </a:prstGeom>
          <a:solidFill>
            <a:srgbClr val="23D3EE"/>
          </a:solidFill>
          <a:ln w="12700">
            <a:solidFill>
              <a:srgbClr val="23D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89720" y="1600200"/>
            <a:ext cx="2514600" cy="868680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17B7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72600" y="18745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4. Audited Controlled Access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2880360"/>
            <a:ext cx="2514600" cy="2057400"/>
          </a:xfrm>
          <a:prstGeom prst="roundRect">
            <a:avLst/>
          </a:prstGeom>
          <a:solidFill>
            <a:srgbClr val="0A1A34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09067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D3EE"/>
                </a:solidFill>
              </a:rPr>
              <a:t>Verification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456432"/>
            <a:ext cx="2148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CD8"/>
                </a:solidFill>
              </a:rPr>
              <a:t>Provider identity and intent checks before participation.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20440" y="2880360"/>
            <a:ext cx="2514600" cy="2057400"/>
          </a:xfrm>
          <a:prstGeom prst="roundRect">
            <a:avLst/>
          </a:prstGeom>
          <a:solidFill>
            <a:srgbClr val="0A1A34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309067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D3EE"/>
                </a:solidFill>
              </a:rPr>
              <a:t>Scoring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03320" y="3456432"/>
            <a:ext cx="2148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CD8"/>
                </a:solidFill>
              </a:rPr>
              <a:t>Dataset confidence based on quality and anomaly signals.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55080" y="2880360"/>
            <a:ext cx="2514600" cy="2057400"/>
          </a:xfrm>
          <a:prstGeom prst="roundRect">
            <a:avLst/>
          </a:prstGeom>
          <a:solidFill>
            <a:srgbClr val="0A1A34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309067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D3EE"/>
                </a:solidFill>
              </a:rPr>
              <a:t>Protection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37960" y="3456432"/>
            <a:ext cx="2148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CD8"/>
                </a:solidFill>
              </a:rPr>
              <a:t>Provider anonymity and policy-driven access boundaries.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89720" y="2880360"/>
            <a:ext cx="2514600" cy="2057400"/>
          </a:xfrm>
          <a:prstGeom prst="roundRect">
            <a:avLst/>
          </a:prstGeom>
          <a:solidFill>
            <a:srgbClr val="0A1A34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72600" y="309067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D3EE"/>
                </a:solidFill>
              </a:rPr>
              <a:t>Compliance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72600" y="3456432"/>
            <a:ext cx="2148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CD8"/>
                </a:solidFill>
              </a:rPr>
              <a:t>Audit trail, consent, and governance workflows built in.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5394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EEF9"/>
                </a:solidFill>
              </a:rPr>
              <a:t>Positioning: Not a public marketplace. A governed confidence infrastructure for enterprise data collaboration.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65836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Redoubt Confidential | Repo-based prototype deck | March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3/12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B7FF"/>
          </a:solidFill>
          <a:ln w="12700">
            <a:solidFill>
              <a:srgbClr val="17B7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Snapshot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Selected screens from the current frontend prototype.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71600"/>
            <a:ext cx="3703320" cy="452628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5544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Landing</a:t>
            </a:r>
            <a:endParaRPr lang="en-US" sz="1200" dirty="0"/>
          </a:p>
        </p:txBody>
      </p:sp>
      <p:pic>
        <p:nvPicPr>
          <p:cNvPr id="8" name="Image 0" descr="D:\Redoubt\output\pitch-deck-redoubt\assets\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63674"/>
            <a:ext cx="3401568" cy="21259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4334256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9BCD8"/>
                </a:solidFill>
              </a:rPr>
              <a:t>Trust-first positioning and controlled access CTA.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53128" y="1371600"/>
            <a:ext cx="3703320" cy="452628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90288" y="15544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Participant Dashboard</a:t>
            </a:r>
            <a:endParaRPr lang="en-US" sz="1200" dirty="0"/>
          </a:p>
        </p:txBody>
      </p:sp>
      <p:pic>
        <p:nvPicPr>
          <p:cNvPr id="12" name="Image 1" descr="D:\Redoubt\output\pitch-deck-redoubt\assets\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1963674"/>
            <a:ext cx="3401568" cy="21259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36008" y="4334256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9BCD8"/>
                </a:solidFill>
              </a:rPr>
              <a:t>Telemetry, trust posture, escrow, and audit surfaces.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339328" y="1371600"/>
            <a:ext cx="3703320" cy="452628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476488" y="15544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Onboarding Flow</a:t>
            </a:r>
            <a:endParaRPr lang="en-US" sz="1200" dirty="0"/>
          </a:p>
        </p:txBody>
      </p:sp>
      <p:pic>
        <p:nvPicPr>
          <p:cNvPr id="16" name="Image 2" descr="D:\Redoubt\output\pitch-deck-redoubt\assets\onboard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963674"/>
            <a:ext cx="3401568" cy="21259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22208" y="4334256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9BCD8"/>
                </a:solidFill>
              </a:rPr>
              <a:t>5-step intake with identity and usage declarations.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02920" y="65836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Redoubt Confidential | Repo-based prototype deck | March 2026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4/12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B7FF"/>
          </a:solidFill>
          <a:ln w="12700">
            <a:solidFill>
              <a:srgbClr val="17B7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Trust, Compliance, and Deployment Model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controls surfaced directly in the product experience.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5257800" cy="438912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D3EE"/>
                </a:solidFill>
              </a:rPr>
              <a:t>Compliance posture visible in-product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E7EEF9"/>
                </a:solidFill>
              </a:rPr>
              <a:t>SOC 2 Type II certified (Jan 2026)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24414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E7EEF9"/>
                </a:solidFill>
              </a:rPr>
              <a:t>HIPAA compliance target achieved (Feb 2026)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282549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E7EEF9"/>
                </a:solidFill>
              </a:rPr>
              <a:t>GDPR alignment marked (Dec 2025)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32095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E7EEF9"/>
                </a:solidFill>
              </a:rPr>
              <a:t>ISO 27001 in progress (target Q3 2026)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35935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E7EEF9"/>
                </a:solidFill>
              </a:rPr>
              <a:t>Shared-responsibility model documented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39776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E7EEF9"/>
                </a:solidFill>
              </a:rPr>
              <a:t>Deployment options: SaaS, private cloud, on-prem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1417320"/>
            <a:ext cx="5166360" cy="438912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pic>
        <p:nvPicPr>
          <p:cNvPr id="15" name="Image 0" descr="D:\Redoubt\output\pitch-deck-redoubt\assets\compli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28" y="2072259"/>
            <a:ext cx="4956048" cy="309753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836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Redoubt Confidential | Repo-based prototype deck | March 2026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5/12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B7FF"/>
          </a:solidFill>
          <a:ln w="12700">
            <a:solidFill>
              <a:srgbClr val="17B7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Prototype Evidence From Repository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Depth of product surface already implemented in frontend routes and pages.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1691640" cy="91440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58191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D3EE"/>
                </a:solidFill>
              </a:rPr>
              <a:t>53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194767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BCD8"/>
                </a:solidFill>
              </a:rPr>
              <a:t>Page components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32888" y="1417320"/>
            <a:ext cx="1691640" cy="91440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32888" y="158191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D3EE"/>
                </a:solidFill>
              </a:rPr>
              <a:t>52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06040" y="194767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BCD8"/>
                </a:solidFill>
              </a:rPr>
              <a:t>App routes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07408" y="1417320"/>
            <a:ext cx="1691640" cy="91440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07408" y="158191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D3EE"/>
                </a:solidFill>
              </a:rPr>
              <a:t>28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80560" y="194767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BCD8"/>
                </a:solidFill>
              </a:rPr>
              <a:t>Workspace routes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58368" y="2514600"/>
            <a:ext cx="1691640" cy="91440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67919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D3EE"/>
                </a:solidFill>
              </a:rPr>
              <a:t>12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31520" y="304495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BCD8"/>
                </a:solidFill>
              </a:rPr>
              <a:t>Admin routes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32888" y="2514600"/>
            <a:ext cx="1691640" cy="91440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32888" y="267919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D3EE"/>
                </a:solidFill>
              </a:rPr>
              <a:t>7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606040" y="304495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BCD8"/>
                </a:solidFill>
              </a:rPr>
              <a:t>Onboarding routes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07408" y="2514600"/>
            <a:ext cx="1691640" cy="91440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07408" y="267919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D3EE"/>
                </a:solidFill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480560" y="304495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BCD8"/>
                </a:solidFill>
              </a:rPr>
              <a:t>Onboarding steps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55080" y="1508760"/>
            <a:ext cx="5029200" cy="237744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169164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D3EE"/>
                </a:solidFill>
              </a:rPr>
              <a:t>Route distribution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37960" y="20574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CD8"/>
                </a:solidFill>
              </a:rPr>
              <a:t>Onboarding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955280" y="2011680"/>
            <a:ext cx="2651760" cy="256032"/>
          </a:xfrm>
          <a:prstGeom prst="roundRect">
            <a:avLst/>
          </a:prstGeom>
          <a:solidFill>
            <a:srgbClr val="1A2E54"/>
          </a:solidFill>
          <a:ln w="12700">
            <a:solidFill>
              <a:srgbClr val="1A2E54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0" y="2011680"/>
            <a:ext cx="618744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44200" y="2048256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7EEF9"/>
                </a:solidFill>
              </a:rPr>
              <a:t>7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37960" y="262432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CD8"/>
                </a:solidFill>
              </a:rPr>
              <a:t>Workspace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955280" y="2578608"/>
            <a:ext cx="2651760" cy="256032"/>
          </a:xfrm>
          <a:prstGeom prst="roundRect">
            <a:avLst/>
          </a:prstGeom>
          <a:solidFill>
            <a:srgbClr val="1A2E54"/>
          </a:solidFill>
          <a:ln w="12700">
            <a:solidFill>
              <a:srgbClr val="1A2E54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55280" y="2578608"/>
            <a:ext cx="2474976" cy="256032"/>
          </a:xfrm>
          <a:prstGeom prst="roundRect">
            <a:avLst/>
          </a:prstGeom>
          <a:solidFill>
            <a:srgbClr val="23D3EE"/>
          </a:solidFill>
          <a:ln w="12700">
            <a:solidFill>
              <a:srgbClr val="23D3EE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44200" y="2615184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7EEF9"/>
                </a:solidFill>
              </a:rPr>
              <a:t>28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537960" y="3191256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CD8"/>
                </a:solidFill>
              </a:rPr>
              <a:t>Admin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955280" y="3145536"/>
            <a:ext cx="2651760" cy="256032"/>
          </a:xfrm>
          <a:prstGeom prst="roundRect">
            <a:avLst/>
          </a:prstGeom>
          <a:solidFill>
            <a:srgbClr val="1A2E54"/>
          </a:solidFill>
          <a:ln w="12700">
            <a:solidFill>
              <a:srgbClr val="1A2E54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3145536"/>
            <a:ext cx="1060704" cy="256032"/>
          </a:xfrm>
          <a:prstGeom prst="roundRect">
            <a:avLst/>
          </a:prstGeom>
          <a:solidFill>
            <a:srgbClr val="17B7FF"/>
          </a:solidFill>
          <a:ln w="12700">
            <a:solidFill>
              <a:srgbClr val="17B7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44200" y="318211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7EEF9"/>
                </a:solidFill>
              </a:rPr>
              <a:t>12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355080" y="4069080"/>
            <a:ext cx="5029200" cy="1755648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43434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E7EEF9"/>
                </a:solidFill>
              </a:rPr>
              <a:t>Security modules include RBAC, red-team mode, secure enclave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537960" y="467258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E7EEF9"/>
                </a:solidFill>
              </a:rPr>
              <a:t>Compliance modules include audit trail and evidence locker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537960" y="500176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E7EEF9"/>
                </a:solidFill>
              </a:rPr>
              <a:t>Data exchange modules include escrow center and usage analytics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537960" y="53309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E7EEF9"/>
                </a:solidFill>
              </a:rPr>
              <a:t>Deployment prep documented for Vercel with SPA-safe routing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65836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Redoubt Confidential | Repo-based prototype deck | March 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6/12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B7FF"/>
          </a:solidFill>
          <a:ln w="12700">
            <a:solidFill>
              <a:srgbClr val="17B7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Redoubt Serves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Segment-specific value surfaced directly in solutions and workflow pages.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5440680" cy="169164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1051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D3EE"/>
                </a:solidFill>
              </a:rPr>
              <a:t>Researchers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21284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EF9"/>
                </a:solidFill>
              </a:rPr>
              <a:t>Verified datasets for scientific and institutional work.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37960" y="1554480"/>
            <a:ext cx="5440680" cy="169164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81051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D3EE"/>
                </a:solidFill>
              </a:rPr>
              <a:t>AI/ML Teams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66560" y="221284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EF9"/>
                </a:solidFill>
              </a:rPr>
              <a:t>Confidence-scored training data and lineage visibility.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520440"/>
            <a:ext cx="5440680" cy="169164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77647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D3EE"/>
                </a:solidFill>
              </a:rPr>
              <a:t>Enterprises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417880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EF9"/>
                </a:solidFill>
              </a:rPr>
              <a:t>Governed access, compliance evidence, and policy controls.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37960" y="3520440"/>
            <a:ext cx="5440680" cy="169164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377647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D3EE"/>
                </a:solidFill>
              </a:rPr>
              <a:t>Data Contributors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66560" y="417880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EF9"/>
                </a:solidFill>
              </a:rPr>
              <a:t>Controlled contribution with trust and licensing guardrails.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5650992"/>
            <a:ext cx="10972800" cy="640080"/>
          </a:xfrm>
          <a:prstGeom prst="roundRect">
            <a:avLst/>
          </a:prstGeom>
          <a:solidFill>
            <a:srgbClr val="0A1A35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833872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EEF9"/>
                </a:solidFill>
              </a:rPr>
              <a:t>Initial focus industries from README: Healthcare, Finance, and Government organizations.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836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Redoubt Confidential | Repo-based prototype deck | March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7/12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B7FF"/>
          </a:solidFill>
          <a:ln w="12700">
            <a:solidFill>
              <a:srgbClr val="17B7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Monetization Model (Prototype Pricing Surface)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Pipelines page already encodes tiered API packaging and enterprise expansion path.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00200"/>
            <a:ext cx="3611880" cy="265176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Starter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2128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D3EE"/>
                </a:solidFill>
              </a:rPr>
              <a:t>$500/mo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265176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CD8"/>
                </a:solidFill>
              </a:rPr>
              <a:t>1,000 API calls/month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3154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EF9"/>
                </a:solidFill>
              </a:rPr>
              <a:t>Basic API access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1600200"/>
            <a:ext cx="3611880" cy="2651760"/>
          </a:xfrm>
          <a:prstGeom prst="roundRect">
            <a:avLst/>
          </a:prstGeom>
          <a:solidFill>
            <a:srgbClr val="102448"/>
          </a:solidFill>
          <a:ln w="12700">
            <a:solidFill>
              <a:srgbClr val="23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Growth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2128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D3EE"/>
                </a:solidFill>
              </a:rPr>
              <a:t>$2,000/mo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265176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CD8"/>
                </a:solidFill>
              </a:rPr>
              <a:t>10,000 API calls/month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0" y="3154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EF9"/>
                </a:solidFill>
              </a:rPr>
              <a:t>Priority support + integrations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458200" y="1600200"/>
            <a:ext cx="3611880" cy="265176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4108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Enterprise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41080" y="22128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D3EE"/>
                </a:solidFill>
              </a:rPr>
              <a:t>Custom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641080" y="265176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CD8"/>
                </a:solidFill>
              </a:rPr>
              <a:t>Unlimited API calls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641080" y="3154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EF9"/>
                </a:solidFill>
              </a:rPr>
              <a:t>Dedicated support + SLA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4480560"/>
            <a:ext cx="5760720" cy="201168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464515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D3EE"/>
                </a:solidFill>
              </a:rPr>
              <a:t>Included API volume by tier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5020056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CD8"/>
                </a:solidFill>
              </a:rPr>
              <a:t>Starter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057400" y="4983480"/>
            <a:ext cx="3474720" cy="256032"/>
          </a:xfrm>
          <a:prstGeom prst="roundRect">
            <a:avLst/>
          </a:prstGeom>
          <a:solidFill>
            <a:srgbClr val="1A2E54"/>
          </a:solidFill>
          <a:ln w="12700">
            <a:solidFill>
              <a:srgbClr val="1A2E5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57400" y="4983480"/>
            <a:ext cx="347472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501091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7EEF9"/>
                </a:solidFill>
              </a:rPr>
              <a:t>1,000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60120" y="5568696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CD8"/>
                </a:solidFill>
              </a:rPr>
              <a:t>Growth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057400" y="5532120"/>
            <a:ext cx="3474720" cy="256032"/>
          </a:xfrm>
          <a:prstGeom prst="roundRect">
            <a:avLst/>
          </a:prstGeom>
          <a:solidFill>
            <a:srgbClr val="1A2E54"/>
          </a:solidFill>
          <a:ln w="12700">
            <a:solidFill>
              <a:srgbClr val="1A2E54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57400" y="5532120"/>
            <a:ext cx="3474720" cy="256032"/>
          </a:xfrm>
          <a:prstGeom prst="roundRect">
            <a:avLst/>
          </a:prstGeom>
          <a:solidFill>
            <a:srgbClr val="23D3EE"/>
          </a:solidFill>
          <a:ln w="12700">
            <a:solidFill>
              <a:srgbClr val="23D3E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23560" y="55595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7EEF9"/>
                </a:solidFill>
              </a:rPr>
              <a:t>10,000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720840" y="4480560"/>
            <a:ext cx="4983480" cy="201168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03720" y="475488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E7EEF9"/>
                </a:solidFill>
              </a:rPr>
              <a:t>Tiering aligns to API throughput and support depth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03720" y="510235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E7EEF9"/>
                </a:solidFill>
              </a:rPr>
              <a:t>Enterprise plan opens private deployment + SLA motion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903720" y="5449824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E7EEF9"/>
                </a:solidFill>
              </a:rPr>
              <a:t>Escrow and compliance layers support premium positioning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903720" y="5797296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E7EEF9"/>
                </a:solidFill>
              </a:rPr>
              <a:t>Model can evolve into usage + governance bundles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65836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Redoubt Confidential | Repo-based prototype deck | March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8/12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B7FF"/>
          </a:solidFill>
          <a:ln w="12700">
            <a:solidFill>
              <a:srgbClr val="17B7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Go-To-Market Motion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prototype to first governed design partners in regulated sectors.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37360"/>
            <a:ext cx="3611880" cy="219456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202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1762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D3EE"/>
                </a:solidFill>
              </a:rPr>
              <a:t>Design Partners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596896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7EEF9"/>
                </a:solidFill>
              </a:rPr>
              <a:t>Land 3-5 lighthouse institutions in healthcare/finance/government.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737360"/>
            <a:ext cx="3611880" cy="219456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9202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Phase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21762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D3EE"/>
                </a:solidFill>
              </a:rPr>
              <a:t>Controlled Pilots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00600" y="2596896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7EEF9"/>
                </a:solidFill>
              </a:rPr>
              <a:t>Run compliance-first pilots with clear trust-score and audit KPIs.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58200" y="1737360"/>
            <a:ext cx="3611880" cy="219456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19202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Phase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41080" y="21762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D3EE"/>
                </a:solidFill>
              </a:rPr>
              <a:t>Scale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686800" y="2596896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7EEF9"/>
                </a:solidFill>
              </a:rPr>
              <a:t>Expand through private cloud and enterprise channel partnerships.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4251960"/>
            <a:ext cx="11018520" cy="1828800"/>
          </a:xfrm>
          <a:prstGeom prst="roundRect">
            <a:avLst/>
          </a:prstGeom>
          <a:solidFill>
            <a:srgbClr val="0A1A35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52628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D3EE"/>
                </a:solidFill>
              </a:rPr>
              <a:t>Execution priorities from current repo state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82803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E7EEF9"/>
                </a:solidFill>
              </a:rPr>
              <a:t>Connect frontend flows to production backend services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4400" y="513892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E7EEF9"/>
                </a:solidFill>
              </a:rPr>
              <a:t>Harden trust-score and policy engine APIs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14400" y="544982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E7EEF9"/>
                </a:solidFill>
              </a:rPr>
              <a:t>Operationalize compliance export and audit reporting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" y="576072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E7EEF9"/>
                </a:solidFill>
              </a:rPr>
              <a:t>Convert investor demo into customer pilot playbook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63640" y="4645152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EF9"/>
                </a:solidFill>
              </a:rPr>
              <a:t>Status today: Prototype with deploy checklist and investor-demo UX across onboarding, admin, and workspace views.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836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Redoubt Confidential | Repo-based prototype deck | March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9/12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B7FF"/>
          </a:solidFill>
          <a:ln w="12700">
            <a:solidFill>
              <a:srgbClr val="17B7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Differentiation: Confidence Infrastructure vs Open Marketplace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Redoubt competes on trust assurance and governed execution, not listing volume.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00200"/>
            <a:ext cx="10927080" cy="443484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74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BCD8"/>
                </a:solidFill>
              </a:rPr>
              <a:t>Capability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4652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BCD8"/>
                </a:solidFill>
              </a:rPr>
              <a:t>Typical Marketplace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0" y="18745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BCD8"/>
                </a:solidFill>
              </a:rPr>
              <a:t>Redoubt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2148840"/>
            <a:ext cx="1042416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340864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EF9"/>
                </a:solidFill>
              </a:rPr>
              <a:t>Verified onboarding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46520" y="23408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CD8"/>
                </a:solidFill>
              </a:rPr>
              <a:t>No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0" y="234086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Yes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2862072"/>
            <a:ext cx="10469880" cy="475488"/>
          </a:xfrm>
          <a:prstGeom prst="rect">
            <a:avLst/>
          </a:prstGeom>
          <a:solidFill>
            <a:srgbClr val="0D1F3D"/>
          </a:solidFill>
          <a:ln w="12700">
            <a:solidFill>
              <a:srgbClr val="0D1F3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916936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EF9"/>
                </a:solidFill>
              </a:rPr>
              <a:t>Persistent trust scoring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291693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CD8"/>
                </a:solidFill>
              </a:rPr>
              <a:t>Partial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0" y="291693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Yes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493008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EF9"/>
                </a:solidFill>
              </a:rPr>
              <a:t>Provider identity protection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34930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CD8"/>
                </a:solidFill>
              </a:rPr>
              <a:t>Limited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0" y="349300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Yes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4014216"/>
            <a:ext cx="10469880" cy="475488"/>
          </a:xfrm>
          <a:prstGeom prst="rect">
            <a:avLst/>
          </a:prstGeom>
          <a:solidFill>
            <a:srgbClr val="0D1F3D"/>
          </a:solidFill>
          <a:ln w="12700">
            <a:solidFill>
              <a:srgbClr val="0D1F3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069080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EF9"/>
                </a:solidFill>
              </a:rPr>
              <a:t>Escrow-native workflows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40690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CD8"/>
                </a:solidFill>
              </a:rPr>
              <a:t>Rare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0" y="406908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Yes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4645152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EF9"/>
                </a:solidFill>
              </a:rPr>
              <a:t>Immutable audit trail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46451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CD8"/>
                </a:solidFill>
              </a:rPr>
              <a:t>Inconsistent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12480" y="464515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Yes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5166360"/>
            <a:ext cx="10469880" cy="475488"/>
          </a:xfrm>
          <a:prstGeom prst="rect">
            <a:avLst/>
          </a:prstGeom>
          <a:solidFill>
            <a:srgbClr val="0D1F3D"/>
          </a:solidFill>
          <a:ln w="12700">
            <a:solidFill>
              <a:srgbClr val="0D1F3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5221224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EF9"/>
                </a:solidFill>
              </a:rPr>
              <a:t>Compliance evidence locker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6520" y="52212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CD8"/>
                </a:solidFill>
              </a:rPr>
              <a:t>No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0" y="52212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Yes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6172200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D3EE"/>
                </a:solidFill>
              </a:rPr>
              <a:t>Strategic moat: integrated trust scoring + policy enforcement + auditability embedded in daily workflows.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65836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Redoubt Confidential | Repo-based prototype deck | March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10/12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B7FF"/>
          </a:solidFill>
          <a:ln w="12700">
            <a:solidFill>
              <a:srgbClr val="17B7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and Compliance Roadmap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 priorities mapped to visible milestones in the prototype.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3337560"/>
            <a:ext cx="10058400" cy="0"/>
          </a:xfrm>
          <a:prstGeom prst="line">
            <a:avLst/>
          </a:prstGeom>
          <a:noFill/>
          <a:ln w="12700">
            <a:solidFill>
              <a:srgbClr val="17B7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874520"/>
            <a:ext cx="2148840" cy="109728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02996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Q2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28600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Pilot readiness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57400" y="3182112"/>
            <a:ext cx="228600" cy="228600"/>
          </a:xfrm>
          <a:prstGeom prst="ellipse">
            <a:avLst/>
          </a:prstGeom>
          <a:solidFill>
            <a:srgbClr val="23D3EE"/>
          </a:solidFill>
          <a:ln w="12700">
            <a:solidFill>
              <a:srgbClr val="23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3657600"/>
            <a:ext cx="2148840" cy="1737360"/>
          </a:xfrm>
          <a:prstGeom prst="roundRect">
            <a:avLst/>
          </a:prstGeom>
          <a:solidFill>
            <a:srgbClr val="0A1A35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07008" y="3886200"/>
            <a:ext cx="19202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A9BCD8"/>
                </a:solidFill>
              </a:rPr>
              <a:t>Backend integration, API hardening, first design-partner pilots.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3611880" y="1874520"/>
            <a:ext cx="2148840" cy="109728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202996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Q3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03320" y="228600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Trust and cert depth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3182112"/>
            <a:ext cx="228600" cy="228600"/>
          </a:xfrm>
          <a:prstGeom prst="ellipse">
            <a:avLst/>
          </a:prstGeom>
          <a:solidFill>
            <a:srgbClr val="23D3EE"/>
          </a:solidFill>
          <a:ln w="12700">
            <a:solidFill>
              <a:srgbClr val="23D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11880" y="3657600"/>
            <a:ext cx="2148840" cy="1737360"/>
          </a:xfrm>
          <a:prstGeom prst="roundRect">
            <a:avLst/>
          </a:prstGeom>
          <a:solidFill>
            <a:srgbClr val="0A1A35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21608" y="3886200"/>
            <a:ext cx="19202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A9BCD8"/>
                </a:solidFill>
              </a:rPr>
              <a:t>ISO 27001 target milestone and expanded policy controls.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126480" y="1874520"/>
            <a:ext cx="2148840" cy="109728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02996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Q4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228600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Regional expansion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86600" y="3182112"/>
            <a:ext cx="228600" cy="228600"/>
          </a:xfrm>
          <a:prstGeom prst="ellipse">
            <a:avLst/>
          </a:prstGeom>
          <a:solidFill>
            <a:srgbClr val="23D3EE"/>
          </a:solidFill>
          <a:ln w="12700">
            <a:solidFill>
              <a:srgbClr val="23D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3657600"/>
            <a:ext cx="2148840" cy="1737360"/>
          </a:xfrm>
          <a:prstGeom prst="roundRect">
            <a:avLst/>
          </a:prstGeom>
          <a:solidFill>
            <a:srgbClr val="0A1A35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3886200"/>
            <a:ext cx="19202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A9BCD8"/>
                </a:solidFill>
              </a:rPr>
              <a:t>AP-Southeast residency target and enterprise deployments.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8641080" y="1874520"/>
            <a:ext cx="2148840" cy="109728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32520" y="202996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Q1 2027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732520" y="228600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Scale confidence network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01200" y="3182112"/>
            <a:ext cx="228600" cy="228600"/>
          </a:xfrm>
          <a:prstGeom prst="ellipse">
            <a:avLst/>
          </a:prstGeom>
          <a:solidFill>
            <a:srgbClr val="23D3EE"/>
          </a:solidFill>
          <a:ln w="12700">
            <a:solidFill>
              <a:srgbClr val="23D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41080" y="3657600"/>
            <a:ext cx="2148840" cy="1737360"/>
          </a:xfrm>
          <a:prstGeom prst="roundRect">
            <a:avLst/>
          </a:prstGeom>
          <a:solidFill>
            <a:srgbClr val="0A1A35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50808" y="3886200"/>
            <a:ext cx="19202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A9BCD8"/>
                </a:solidFill>
              </a:rPr>
              <a:t>Operationalize repeatable sales, onboarding, and governance ops.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836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Redoubt Confidential | Repo-based prototype deck | March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11/12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B7FF"/>
          </a:solidFill>
          <a:ln w="12700">
            <a:solidFill>
              <a:srgbClr val="17B7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Build the trusted data layer for regulated 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280160" y="16916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BCD8"/>
                </a:solidFill>
              </a:rPr>
              <a:t>Redoubt turns compliance friction into a defensible network advantage.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2331720"/>
            <a:ext cx="10195560" cy="2971800"/>
          </a:xfrm>
          <a:prstGeom prst="roundRect">
            <a:avLst/>
          </a:prstGeom>
          <a:solidFill>
            <a:srgbClr val="0B1730"/>
          </a:solidFill>
          <a:ln w="12700">
            <a:solidFill>
              <a:srgbClr val="1E33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D3EE"/>
                </a:solidFill>
              </a:rPr>
              <a:t>Current Ask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30632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E7EEF9"/>
                </a:solidFill>
              </a:rPr>
              <a:t>Strategic investors to accelerate prototype-to-production delivery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344728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E7EEF9"/>
                </a:solidFill>
              </a:rPr>
              <a:t>Design partners in healthcare, finance, and government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383133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E7EEF9"/>
                </a:solidFill>
              </a:rPr>
              <a:t>Cloud/compliance partners for private deployment and certifications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421538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E7EEF9"/>
                </a:solidFill>
              </a:rPr>
              <a:t>Enterprise introductions for first controlled pilots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0" y="2697480"/>
            <a:ext cx="4206240" cy="2331720"/>
          </a:xfrm>
          <a:prstGeom prst="roundRect">
            <a:avLst/>
          </a:prstGeom>
          <a:solidFill>
            <a:srgbClr val="0D2346"/>
          </a:solidFill>
          <a:ln w="12700">
            <a:solidFill>
              <a:srgbClr val="17B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29260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Deck Notes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03720" y="3273552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7EEF9"/>
                </a:solidFill>
              </a:rPr>
              <a:t>All product claims in this deck are grounded in repository artifacts reviewed on 23 March 2026.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5623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3D3EE"/>
                </a:solidFill>
              </a:rPr>
              <a:t>Thank you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12700">
            <a:solidFill>
              <a:srgbClr val="1E33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5836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Redoubt Confidential | Repo-based prototype deck | March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93B5"/>
                </a:solidFill>
              </a:rPr>
              <a:t>12/12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Redoubt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Redoubt Pitch Deck</dc:title>
  <dc:subject>Investor Pitch Deck</dc:subject>
  <dc:creator>Redoubt</dc:creator>
  <cp:lastModifiedBy>Redoubt</cp:lastModifiedBy>
  <cp:revision>1</cp:revision>
  <dcterms:created xsi:type="dcterms:W3CDTF">2026-03-23T05:21:48Z</dcterms:created>
  <dcterms:modified xsi:type="dcterms:W3CDTF">2026-03-23T05:21:48Z</dcterms:modified>
</cp:coreProperties>
</file>